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各位老师好，我是……，我的实训题目是社区慢性病大数据分析系统。项目从零搭建，完成了 10 万名虚构患者、七张业务表、八个 Spark 分析模块，以及 Spring Boot 和 Vue3 的前后端联调。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先说为什么做。社区慢病数据分散，传统报表不够用；我希望做一条能跑通、能解释、能验收的链路。这里也明确项目定位是教学实训，不是临床产品。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需求不是拍脑袋。我通过浏览器读到了飞书原文，确认了 10 万是患者人数，八模块和评分权重也都有出处。原文没有外键，我补上了，但没有改字段含义。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架构分五层：生成、MySQL、ODS、Spark、ADS，再加前端。结果落 MySQL ADS，是为了让页面查询稳定，不用每次打开都启动 Spark。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技术选型的原则是兼容和可复现。Spark 3.3.4 与原文一致；后端用 Spring Boot 2.7.18；前端 Vue3。Python 3.13 不能直接跑 PySpark 3.3.4，所以我单独用 3.10。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七张表以患者为主表。lifestyle 是一对一，其余是一对多。外键不是原文有的，是我为了保证数据完整性补的；删除患者会被 RESTRICT 拦住。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数据质量不是只看行数。我做了空值、重复、外键、日期、金额勾稽等 30 多项检查，结果是 0 问题、7 表 PASS。数据是固定 seed 生成的，可以复现。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HDFS 和 Hive 这次已经实机跑通：HDFS 测试文件校验和一致，Hive 7 张 ODS 表行数与 MySQL 一致，Spark 从 HDFS 读取并写 12 张 ADS。Sqoop 1.4.7 也已在独立目录完成 1000 行 staging 导入，HDFS/Hive 都是 1000 行；七表全量没有扩展，不能把 staging 说成全量完成。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八个模块回答八个问题：能不能用、患者是谁、得了什么、和什么有关、怎么就医、用了什么药、未来怎么变、谁需要关注。每个模块都有明确的输出表。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左边是患者画像：男女接近一半，中老年为主。右边是疾病分布：高血压 40,912 人，糖尿病 31,890 人，冠心病 23,620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风险因素做的是关联，不是因果。就诊看类型、费用、科室；用药看 TOP 药、类别、有效率。三张图都来自真实 ADS 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预测严格按原文的一元线性回归，没有换成 ARIMA。斜率 3902.65，R² 0.7361，预测 2026 到 2029。要强调样本只有 8 个点，R² 不是准确率。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评分权重完全按原文：血压和血糖各 20%，BMI 和血脂各 15%，心率 10%，吸烟 8%，饮酒 7%，运动 5%。平均 72.8，高危 1,718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后端 14 个只读接口，统一 code/message/data。14 个 HTTP 冒烟全部通过，JUnit 3 个也通过。所有数据来自 MySQL ADS，没有硬编码。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前端是 Vue3 + Vite + ECharts + Element Plus。左边首页，右边患者查询；还有大屏、画像、疾病、风险、就诊、用药、趋势、评分、质量页面。所有图表数据来自后端。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证据不是口头说。Python 6 个测试、后端 3 个、API 14 个、11 张截图，还有 HDFS/Hive/Spark 日志。HDFS/Hive 已成功；Sqoop 只验证 1000 行 staging，没有说成七表全量完成。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总结：核心链路真实跑通，HDFS/Hive 也已实机，材料齐全。Sqoop 只验证了 1000 行 staging，预测和评分也不是临床模型，这些必须如实说。下一步优先扩到七表全量，再做权限和真实数据验证。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我的汇报到此结束，感谢各位老师，请批评指正。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1097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DD3FC"/>
                </a:solidFill>
                <a:latin typeface="Microsoft YaHei"/>
              </a:rPr>
              <a:t>本科数据科学与大数据技术 · 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社区慢性病大数据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分析系统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FDBFE"/>
                </a:solidFill>
                <a:latin typeface="Microsoft YaHei"/>
              </a:rPr>
              <a:t>从 10 万患者到八模块洞察 · MySQL / Spark SQL / Spring Boot / Vue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5303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Microsoft YaHei"/>
              </a:rPr>
              <a:t>答辩人：____________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Microsoft YaHei"/>
              </a:rPr>
              <a:t>指导教师：____________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Microsoft YaHei"/>
              </a:rPr>
              <a:t>专业：数据科学与大数据技术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8463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800" b="1">
                <a:solidFill>
                  <a:srgbClr val="06B6D4"/>
                </a:solidFill>
                <a:latin typeface="Microsoft YaHei"/>
              </a:rPr>
              <a:t>100,000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4406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4C5FF"/>
                </a:solidFill>
                <a:latin typeface="Microsoft YaHei"/>
              </a:rPr>
              <a:t>名虚构患者 · 2,065,156 条记录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项目背景：社区慢病管理需要“看得见”的数据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94960" cy="44805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现实问题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0233F"/>
                </a:solidFill>
                <a:latin typeface="Microsoft YaHei"/>
              </a:rPr>
              <a:t>·  患者、疾病、体检、用药、随访数据分散，难以形成完整画像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0233F"/>
                </a:solidFill>
                <a:latin typeface="Microsoft YaHei"/>
              </a:rPr>
              <a:t>·  传统报表只能看总量，难以回答“谁高风险、为什么、趋势如何”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0233F"/>
                </a:solidFill>
                <a:latin typeface="Microsoft YaHei"/>
              </a:rPr>
              <a:t>·  社区医生需要把有限的管理资源投入到最需要的人群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0233F"/>
                </a:solidFill>
                <a:latin typeface="Microsoft YaHei"/>
              </a:rPr>
              <a:t>·  教学场景缺少可复现、可解释、可验收的完整大数据链路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166360" cy="2103120"/>
          </a:xfrm>
          <a:prstGeom prst="round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6B6D4"/>
                </a:solidFill>
                <a:latin typeface="Microsoft YaHei"/>
              </a:rPr>
              <a:t>项目目标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46177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用一套可运行的工程，把“数据生成—治理—分析—服务—可视化”串起来，并留下真实证据。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931920"/>
            <a:ext cx="5166360" cy="2148840"/>
          </a:xfrm>
          <a:prstGeom prst="roundRect">
            <a:avLst/>
          </a:prstGeom>
          <a:solidFill>
            <a:srgbClr val="E5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0B981"/>
                </a:solidFill>
                <a:latin typeface="Microsoft YaHei"/>
              </a:rPr>
              <a:t>项目定位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72000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233F"/>
                </a:solidFill>
                <a:latin typeface="Microsoft YaHei"/>
              </a:rPr>
              <a:t>本科实训 / 教学演示。健康评分与趋势预测是统计模型，不是临床诊断工具。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先核实需求，再动手：原文的硬指标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患者规模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patient_info 患者人数，不是七表行数相加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6002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1600200"/>
            <a:ext cx="73152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业务表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7 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患者 / 疾病 / 体检 / 生活习惯 / 就诊 / 用药 / 随访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6002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6002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分析模块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8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清洗、画像、疾病、风险、就诊、用药、预测、评分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3" y="16002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3" y="160020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5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预测算法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5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线性回归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5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2018-2025 训练，2026-2029 预测，输出 R²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0233F"/>
                </a:solidFill>
                <a:latin typeface="Microsoft YaHei"/>
              </a:rPr>
              <a:t>需求来源与核对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67328"/>
            <a:ext cx="5394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10233F"/>
                </a:solidFill>
                <a:latin typeface="Microsoft YaHei"/>
              </a:rPr>
              <a:t>·  飞书原文已通过浏览器实际读取，提取 60 个内容块、23 个代码块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10233F"/>
                </a:solidFill>
                <a:latin typeface="Microsoft YaHei"/>
              </a:rPr>
              <a:t>·  七表字段、八模块列表、10 万口径、评分权重均来自原文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10233F"/>
                </a:solidFill>
                <a:latin typeface="Microsoft YaHei"/>
              </a:rPr>
              <a:t>·  原文 DDL 无外键，本项目补充 6 个外键与 CHECK 约束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10233F"/>
                </a:solidFill>
                <a:latin typeface="Microsoft YaHei"/>
              </a:rPr>
              <a:t>·  HDFS/Hive 已实机；Sqoop 1000 行 staging 已验证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337560"/>
            <a:ext cx="5257800" cy="25146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5661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Microsoft YaHei"/>
              </a:rPr>
              <a:t>八模块（原文内嵌表格）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77639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0233F"/>
                </a:solidFill>
                <a:latin typeface="Microsoft YaHei"/>
              </a:rPr>
              <a:t>M1 数据清洗  ·  M2 患者画像
M3 疾病分布  ·  M4 风险关联
M5 就诊行为  ·  M6 用药分析
M7 趋势预测  ·  M8 健康评分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总体架构：一条可验证的数据链路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011680" cy="11430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数据源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Python 生成器
100,000 患者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45920"/>
            <a:ext cx="2011680" cy="11430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0A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783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1C33"/>
                </a:solidFill>
                <a:latin typeface="Microsoft YaHei"/>
              </a:rPr>
              <a:t>业务库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2140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MySQL 8.0
7 张表 / 206 万行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645920"/>
            <a:ext cx="2103120" cy="11430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783080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6B6D4"/>
                </a:solidFill>
                <a:latin typeface="Microsoft YaHei"/>
              </a:rPr>
              <a:t>数据交换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121408"/>
            <a:ext cx="18287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Python ODS 导出
TSV / HDFS / WebHDFS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645920"/>
            <a:ext cx="2011680" cy="1143000"/>
          </a:xfrm>
          <a:prstGeom prst="roundRect">
            <a:avLst/>
          </a:prstGeom>
          <a:solidFill>
            <a:srgbClr val="FFF6E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783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9E0B"/>
                </a:solidFill>
                <a:latin typeface="Microsoft YaHei"/>
              </a:rPr>
              <a:t>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2140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Spark 3.3.4
8 个分析模块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645920"/>
            <a:ext cx="1508760" cy="1143000"/>
          </a:xfrm>
          <a:prstGeom prst="roundRect">
            <a:avLst/>
          </a:prstGeom>
          <a:solidFill>
            <a:srgbClr val="E5F8F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1783080"/>
            <a:ext cx="1234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B981"/>
                </a:solidFill>
                <a:latin typeface="Microsoft YaHei"/>
              </a:rPr>
              <a:t>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121408"/>
            <a:ext cx="12344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MySQL ADS
15 张结果表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3246120"/>
            <a:ext cx="4297680" cy="1828800"/>
          </a:xfrm>
          <a:prstGeom prst="round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429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6B6D4"/>
                </a:solidFill>
                <a:latin typeface="Microsoft YaHei"/>
              </a:rPr>
              <a:t>展示层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79476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Vue 3 管理台 + ECharts 大屏
14 个 REST 接口读取真实 ADS
Matplotlib 8 张静态图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91840"/>
            <a:ext cx="63093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10233F"/>
                </a:solidFill>
                <a:latin typeface="Microsoft YaHei"/>
              </a:rPr>
              <a:t>·  分层：ODS 原始层 → DWD 清洗层 → ADS 服务层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10233F"/>
                </a:solidFill>
                <a:latin typeface="Microsoft YaHei"/>
              </a:rPr>
              <a:t>·  数据质量：7 表 30+ 检查项，报告落库/落文件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10233F"/>
                </a:solidFill>
                <a:latin typeface="Microsoft YaHei"/>
              </a:rPr>
              <a:t>·  可替换：local / HDFS / WebHDFS 三种同步目标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10233F"/>
                </a:solidFill>
                <a:latin typeface="Microsoft YaHei"/>
              </a:rPr>
              <a:t>·  结果：MySQL ADS 支持分页、筛选、详情，前端不直接跑 Spark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技术选型：优先保证兼容与可复现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270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834640"/>
                <a:gridCol w="2011680"/>
                <a:gridCol w="4709160"/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技术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选型理由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数据生成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Python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3.13.9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随机数、CSV、pymysql，易读易改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业务库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MySQL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8.0.42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事务、外键、CHECK、窗口函数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大数据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Spark SQL / PySpark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3.3.4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与原文 3.3.x 对齐，支持 SQL/JDBC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数仓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Hive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3.1.3（已实机）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ODS/DWD/ADS 分层，课程要求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存储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HDFS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3.3.6（已实机）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原始/结果分布式存储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后端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Spring Boot + JdbcTemplate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2.7.18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REST、配置简单、Java 生态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前端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Vue 3 + Vite + ECharts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3.5 / 6.1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233F"/>
                          </a:solidFill>
                          <a:latin typeface="Microsoft YaHei"/>
                        </a:rPr>
                        <a:t>组件化、图表强、适合大屏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版本策略：先锁定组合，再逐个验证；Python 3.13 生成、Python 3.10 运行 PySpark，避免 3.13 不兼容。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七张业务表：一个患者，六条业务支线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377440" cy="914400"/>
          </a:xfrm>
          <a:prstGeom prst="round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6B6D4"/>
                </a:solidFill>
                <a:latin typeface="Microsoft YaHei"/>
              </a:rPr>
              <a:t>patient_info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100,000 患者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920240"/>
            <a:ext cx="3108960" cy="60350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99339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233F"/>
                </a:solidFill>
                <a:latin typeface="Microsoft YaHei"/>
              </a:rPr>
              <a:t>disease_record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93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165,087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2221992"/>
            <a:ext cx="1828800" cy="475488"/>
          </a:xfrm>
          <a:prstGeom prst="line">
            <a:avLst/>
          </a:prstGeom>
          <a:ln w="12700">
            <a:solidFill>
              <a:srgbClr val="94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60" y="2834640"/>
            <a:ext cx="3108960" cy="60350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90779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233F"/>
                </a:solidFill>
                <a:latin typeface="Microsoft YaHei"/>
              </a:rPr>
              <a:t>health_checkup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9077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300,022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697480"/>
            <a:ext cx="1828800" cy="438912"/>
          </a:xfrm>
          <a:prstGeom prst="line">
            <a:avLst/>
          </a:prstGeom>
          <a:ln w="12700">
            <a:solidFill>
              <a:srgbClr val="94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37760" y="3749039"/>
            <a:ext cx="3108960" cy="60350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822191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233F"/>
                </a:solidFill>
                <a:latin typeface="Microsoft YaHei"/>
              </a:rPr>
              <a:t>lifestyle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22191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100,000（1:1）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2697480"/>
            <a:ext cx="1828800" cy="1353311"/>
          </a:xfrm>
          <a:prstGeom prst="line">
            <a:avLst/>
          </a:prstGeom>
          <a:ln w="12700">
            <a:solidFill>
              <a:srgbClr val="94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37760" y="4663440"/>
            <a:ext cx="3108960" cy="60350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473659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233F"/>
                </a:solidFill>
                <a:latin typeface="Microsoft YaHei"/>
              </a:rPr>
              <a:t>visit_record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7365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550,070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" y="2697480"/>
            <a:ext cx="1828800" cy="2267712"/>
          </a:xfrm>
          <a:prstGeom prst="line">
            <a:avLst/>
          </a:prstGeom>
          <a:ln w="12700">
            <a:solidFill>
              <a:srgbClr val="94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937760" y="5577840"/>
            <a:ext cx="3108960" cy="60350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565099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233F"/>
                </a:solidFill>
                <a:latin typeface="Microsoft YaHei"/>
              </a:rPr>
              <a:t>medication_record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6509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549,587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08960" y="2697480"/>
            <a:ext cx="1828800" cy="3182112"/>
          </a:xfrm>
          <a:prstGeom prst="line">
            <a:avLst/>
          </a:prstGeom>
          <a:ln w="12700">
            <a:solidFill>
              <a:srgbClr val="94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37760" y="6492240"/>
            <a:ext cx="3108960" cy="60350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656539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233F"/>
                </a:solidFill>
                <a:latin typeface="Microsoft YaHei"/>
              </a:rPr>
              <a:t>follow_up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300,390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08960" y="2697480"/>
            <a:ext cx="1828800" cy="4096512"/>
          </a:xfrm>
          <a:prstGeom prst="line">
            <a:avLst/>
          </a:prstGeom>
          <a:ln w="12700">
            <a:solidFill>
              <a:srgbClr val="94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4612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 : 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920240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主键 + 外键 + UNIQUE + CHECK + 索引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6 个子表 ON DELETE RESTRICT，防止孤立记录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lifestyle 一人一条，其余一对多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字段类型按原文，未改业务口径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2,065,156 条记录，质量检查 7/7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48463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280160"/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表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行数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检查结果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patient_info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100,000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disease_record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165,087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health_checkup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300,022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lifestyle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100,000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visit_record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550,070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medication_record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549,587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follow_up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300,390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33F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55080" y="1645920"/>
            <a:ext cx="5166360" cy="1874519"/>
          </a:xfrm>
          <a:prstGeom prst="roundRect">
            <a:avLst/>
          </a:prstGeom>
          <a:solidFill>
            <a:srgbClr val="E5F8F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0B981"/>
                </a:solidFill>
                <a:latin typeface="Microsoft YaHei"/>
              </a:rPr>
              <a:t>检查维度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0233F"/>
                </a:solidFill>
                <a:latin typeface="Microsoft YaHei"/>
              </a:rPr>
              <a:t>空值 · 重复 · 孤立外键 · 非法年龄/血压/血糖/BMI/心率
非法日期 · 金额勾稽 · 10 万口径 · 主外键存在性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703320"/>
            <a:ext cx="5166360" cy="18288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886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关键结果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9768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0233F"/>
                </a:solidFill>
                <a:latin typeface="Microsoft YaHei"/>
              </a:rPr>
              <a:t>问题总数 0；关键问题 0；
患者 100,000；总行数 2,065,156。
生成 seed=20261020，可复现。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数据流转：从 MySQL 到 ADS 的真实运行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011680" cy="15087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①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3317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7 表 / 206 万行
LOAD DATA 100.9s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737360"/>
            <a:ext cx="2011680" cy="15087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6B6D4"/>
                </a:solidFill>
                <a:latin typeface="Microsoft YaHei"/>
              </a:rPr>
              <a:t>② HDFS 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3317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7 表 / 2,065,156 行
WebHDFS 实际同步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737360"/>
            <a:ext cx="2011680" cy="1508760"/>
          </a:xfrm>
          <a:prstGeom prst="roundRect">
            <a:avLst/>
          </a:prstGeom>
          <a:solidFill>
            <a:srgbClr val="FFF6E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4104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59E0B"/>
                </a:solidFill>
                <a:latin typeface="Microsoft YaHei"/>
              </a:rPr>
              <a:t>③ 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3317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8 模块 / local[4]
读 HDFS，写 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1737360"/>
            <a:ext cx="2011680" cy="1508760"/>
          </a:xfrm>
          <a:prstGeom prst="roundRect">
            <a:avLst/>
          </a:prstGeom>
          <a:solidFill>
            <a:srgbClr val="E5F8F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35823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0B981"/>
                </a:solidFill>
                <a:latin typeface="Microsoft YaHei"/>
              </a:rPr>
              <a:t>④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3" y="23317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MySQL 15 表
HDFS 12 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737360"/>
            <a:ext cx="201168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0A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67544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1C33"/>
                </a:solidFill>
                <a:latin typeface="Microsoft YaHei"/>
              </a:rPr>
              <a:t>⑤ API +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23317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14 接口 / 11 页面
真实联调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11880"/>
            <a:ext cx="10927080" cy="214884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947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真实运行证据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062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Spark 作业退出码 0，8 模块全部 SUCCESS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ads_health_score = 100,000；ads_trend = 188 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0233F"/>
                </a:solidFill>
                <a:latin typeface="Microsoft YaHei"/>
              </a:rPr>
              <a:t>·  14/14 API 通过；前端 Console 0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7947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0B981"/>
                </a:solidFill>
                <a:latin typeface="Microsoft YaHei"/>
              </a:rPr>
              <a:t>HDFS / Hive 已实机验证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16052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>
                <a:solidFill>
                  <a:srgbClr val="10233F"/>
                </a:solidFill>
                <a:latin typeface="Microsoft YaHei"/>
              </a:rPr>
              <a:t>·  VM 192.168.20.135；HDFS 42.31 GB 可用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>
                <a:solidFill>
                  <a:srgbClr val="10233F"/>
                </a:solidFill>
                <a:latin typeface="Microsoft YaHei"/>
              </a:rPr>
              <a:t>·  Hive 3.1.3：7 张 ODS 表，行数与 MySQL 一致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>
                <a:solidFill>
                  <a:srgbClr val="10233F"/>
                </a:solidFill>
                <a:latin typeface="Microsoft YaHei"/>
              </a:rPr>
              <a:t>·  Spark 从 HDFS 读 ODS，12 张 ADS 写 HDFS + 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49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B981"/>
                </a:solidFill>
                <a:latin typeface="Microsoft YaHei"/>
              </a:rPr>
              <a:t>Sqoop：1000 行 staging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八个模块：从“看清”到“预测”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7680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468880"/>
                <a:gridCol w="3474720"/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关键问题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主要输出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M1 数据清洗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数据能不能用？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去重/异常过滤/清洗报告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M2 患者画像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患者是谁？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性别/年龄/省份/交叉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M3 疾病分布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得了什么病？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类型/严重度/共病/年度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M4 风险因素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和什么有关？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吸烟/饮酒/BMI/运动/饮食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M5 就诊行为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怎么就医？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类型/费用/医保/科室/年度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M6 用药分析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用了什么药？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TOP/类别/有效率/联合/疾病 TOP3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M7 趋势预测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未来怎么变？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年度/月度 + 线性回归 2026-2029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M8 健康评分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谁需要关注？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8 维加权 0-100 / 五级 / 高危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600200"/>
            <a:ext cx="2971800" cy="4480560"/>
          </a:xfrm>
          <a:prstGeom prst="round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B6D4"/>
                </a:solidFill>
                <a:latin typeface="Microsoft YaHei"/>
              </a:rPr>
              <a:t>结果规模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40280"/>
            <a:ext cx="2560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画像 33
疾病 10
严重度 30
共病 3
风险 70
就诊 18
用药 108
趋势 188
评分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INSIGHT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患者画像与疾病分布：先看清人群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10</a:t>
            </a:r>
          </a:p>
        </p:txBody>
      </p:sp>
      <p:pic>
        <p:nvPicPr>
          <p:cNvPr id="6" name="Picture 5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5620"/>
            <a:ext cx="5486400" cy="3992559"/>
          </a:xfrm>
          <a:prstGeom prst="rect">
            <a:avLst/>
          </a:prstGeom>
        </p:spPr>
      </p:pic>
      <p:pic>
        <p:nvPicPr>
          <p:cNvPr id="7" name="Picture 6" descr="fig1_diseas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33905"/>
            <a:ext cx="5532120" cy="30759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INSIGHT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风险、就诊、用药：把业务问题落到指标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11</a:t>
            </a:r>
          </a:p>
        </p:txBody>
      </p:sp>
      <p:pic>
        <p:nvPicPr>
          <p:cNvPr id="6" name="Picture 5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10384"/>
            <a:ext cx="3657599" cy="2877312"/>
          </a:xfrm>
          <a:prstGeom prst="rect">
            <a:avLst/>
          </a:prstGeom>
        </p:spPr>
      </p:pic>
      <p:pic>
        <p:nvPicPr>
          <p:cNvPr id="7" name="Picture 6" descr="vis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75126"/>
            <a:ext cx="3703320" cy="4347827"/>
          </a:xfrm>
          <a:prstGeom prst="rect">
            <a:avLst/>
          </a:prstGeom>
        </p:spPr>
      </p:pic>
      <p:pic>
        <p:nvPicPr>
          <p:cNvPr id="8" name="Picture 7" descr="fig6_drug_top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744048"/>
            <a:ext cx="3611880" cy="2009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趋势预测：原文指定的一元线性回归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12</a:t>
            </a:r>
          </a:p>
        </p:txBody>
      </p:sp>
      <p:pic>
        <p:nvPicPr>
          <p:cNvPr id="6" name="Picture 5" descr="fig7_tren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1248"/>
            <a:ext cx="6400800" cy="34213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1554480"/>
            <a:ext cx="4343400" cy="1828800"/>
          </a:xfrm>
          <a:prstGeom prst="roundRect">
            <a:avLst/>
          </a:prstGeom>
          <a:solidFill>
            <a:srgbClr val="FFF6E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373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59E0B"/>
                </a:solidFill>
                <a:latin typeface="Microsoft YaHei"/>
              </a:rPr>
              <a:t>模型与结果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0312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0233F"/>
                </a:solidFill>
                <a:latin typeface="Microsoft YaHei"/>
              </a:rPr>
              <a:t>y = 3902.6548 × year − 7868580.7262
R² = 0.7361
训练 2018-2025，预测 2026-2029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611880"/>
            <a:ext cx="4343400" cy="214884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7947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预测值（例）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16052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0233F"/>
                </a:solidFill>
                <a:latin typeface="Microsoft YaHei"/>
              </a:rPr>
              <a:t>2026：38,197.8
2027：42,100.5
2028：46,003.1
2029：49,905.8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F4444"/>
                </a:solidFill>
                <a:latin typeface="Microsoft YaHei"/>
              </a:rPr>
              <a:t>局限：仅 8 个年度点；R² 是拟合优度，不是临床准确率；数据为模拟数据。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健康评分：8 维加权，0-100 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血压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282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728216"/>
            <a:ext cx="2011680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733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血糖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1854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2185416"/>
            <a:ext cx="2011680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305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BMI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26426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17320" y="2642616"/>
            <a:ext cx="1508760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5877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血脂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0998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0" y="3099816"/>
            <a:ext cx="1508760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044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心率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35570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17320" y="3557016"/>
            <a:ext cx="100584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5021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吸烟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4014215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0" y="4014215"/>
            <a:ext cx="804672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9593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饮酒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44714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7320" y="4471416"/>
            <a:ext cx="704088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4165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运动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4928616"/>
            <a:ext cx="2011680" cy="128016"/>
          </a:xfrm>
          <a:prstGeom prst="rect">
            <a:avLst/>
          </a:prstGeom>
          <a:solidFill>
            <a:srgbClr val="E2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17320" y="4928616"/>
            <a:ext cx="50292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48737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5%</a:t>
            </a:r>
          </a:p>
        </p:txBody>
      </p:sp>
      <p:pic>
        <p:nvPicPr>
          <p:cNvPr id="38" name="Picture 37" descr="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243" y="1508760"/>
            <a:ext cx="3867753" cy="470916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9281160" y="1645920"/>
            <a:ext cx="2286000" cy="2103120"/>
          </a:xfrm>
          <a:prstGeom prst="roundRect">
            <a:avLst/>
          </a:prstGeom>
          <a:solidFill>
            <a:srgbClr val="E5F8F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B981"/>
                </a:solidFill>
                <a:latin typeface="Microsoft YaHei"/>
              </a:rPr>
              <a:t>实测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19456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0233F"/>
                </a:solidFill>
                <a:latin typeface="Microsoft YaHei"/>
              </a:rPr>
              <a:t>平均 72.8
高危 1,718
占比 1.72%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3977639"/>
            <a:ext cx="2286000" cy="20116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分级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45262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优秀≥85
良好≥70
一般≥55
较差≥40
危险&lt;40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Spring Boot：14 个只读接口，真实读取 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64922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接口组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代表接口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73152" marR="54864" marT="36576" marB="27432" anchor="ctr">
                    <a:solidFill>
                      <a:srgbClr val="0A1C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总览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/api/dashboard/overview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大屏 KPI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画像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/api/patient-profile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性别/年龄/省份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疾病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/api/disease-distribution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类型/严重度/共病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/api/risk-factors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因素×疾病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就诊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/api/visits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类型/费用/科室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用药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/api/medications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TOP/类别/有效率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趋势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/api/trend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历史+预测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评分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/api/health-score/overview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等级/分箱/高危</a:t>
                      </a:r>
                    </a:p>
                  </a:txBody>
                  <a:tcPr marL="73152" marR="54864" marT="36576" marB="27432" anchor="ctr"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患者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/api/patients/{id}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33F"/>
                          </a:solidFill>
                          <a:latin typeface="Microsoft YaHei"/>
                        </a:rPr>
                        <a:t>七表完整档案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600200"/>
            <a:ext cx="3977639" cy="4343400"/>
          </a:xfrm>
          <a:prstGeom prst="round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6B6D4"/>
                </a:solidFill>
                <a:latin typeface="Microsoft YaHei"/>
              </a:rPr>
              <a:t>统一响应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{
  code: 0,
  message: "ok",
  data: ...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2461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6B6D4"/>
                </a:solidFill>
                <a:latin typeface="Microsoft YaHei"/>
              </a:rPr>
              <a:t>验证结果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1188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14 / 14 接口通过
JUnit 3 / 3 通过
HTTP 200，code=0
无硬编码业务数据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Vue 3：管理台 + 数据大屏 + 查询详情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15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22" y="1508760"/>
            <a:ext cx="4749594" cy="4526280"/>
          </a:xfrm>
          <a:prstGeom prst="rect">
            <a:avLst/>
          </a:prstGeom>
        </p:spPr>
      </p:pic>
      <p:pic>
        <p:nvPicPr>
          <p:cNvPr id="7" name="Picture 6" descr="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51024"/>
            <a:ext cx="5532120" cy="38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测试与证据：每个数字都能回查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Python 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6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生成/外键/日期/质量/API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后端测试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3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MockMvc 真实查库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00200"/>
            <a:ext cx="73152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API 冒烟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14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HTTP 200 / code=0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60020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764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页面截图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07568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33F"/>
                </a:solidFill>
                <a:latin typeface="Microsoft YaHei"/>
              </a:rPr>
              <a:t>11 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5877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Playwright 实际打开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337560"/>
            <a:ext cx="5577840" cy="24688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520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运行证据文件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3192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33F"/>
                </a:solidFill>
                <a:latin typeface="Microsoft YaHei"/>
              </a:rPr>
              <a:t>reports/hdfs_hive_verification.json
reports/spark_run.json
reports/api_test_report.json
logs/hdfs_verification.log
logs/hive_counts.log
logs/spark_hdfs_run.log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337560"/>
            <a:ext cx="5074920" cy="2468880"/>
          </a:xfrm>
          <a:prstGeom prst="round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520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6B6D4"/>
                </a:solidFill>
                <a:latin typeface="Microsoft YaHei"/>
              </a:rPr>
              <a:t>测试结论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3192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核心链路通过；HDFS/Hive 已实机，七表、八模块、API、前端、图表均有真实结果。
Sqoop 1000 行 staging 已通过；七表全量未扩展。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DD3FC"/>
                </a:solidFill>
                <a:latin typeface="Microsoft Ya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总结：一条真实链路，一个范围边界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640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7DD3FC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6B6D4"/>
                </a:solidFill>
                <a:latin typeface="Microsoft YaHei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10 万患者、七表、206 万条记录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Spark 八模块 + MySQL 15 表 + HDFS 12 目录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HDFS/Hive 实机：7 ODS + 12 ADS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14 个接口 + 11 个前端页面/大屏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Sqoop 1000 行 staging 验证通过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8 张 Matplotlib 图 + 完整文档/答辩材料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CA5A5"/>
                </a:solidFill>
                <a:latin typeface="Microsoft YaHei"/>
              </a:rPr>
              <a:t>待补 / 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Sqoop 七表全量未执行（仅 1000 行 staging）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预测仅 8 个年度点，未做外部验证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健康评分是规则模型，非临床工具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Microsoft YaHei"/>
              </a:rPr>
              <a:t>·  无登录权限、无并发压测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49240"/>
            <a:ext cx="10972800" cy="68580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下一步：扩到七表 Sqoop 全量 → 增加权限与增量同步 → 用真实脱敏数据做外部验证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8A0C8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51052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A0C8"/>
                </a:solidFill>
                <a:latin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感谢各位老师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DD3FC"/>
                </a:solidFill>
                <a:latin typeface="Microsoft YaHei"/>
              </a:rPr>
              <a:t>请批评指正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C5FF"/>
                </a:solidFill>
                <a:latin typeface="Microsoft YaHei"/>
              </a:rPr>
              <a:t>社区慢性病大数据分析系统 · 本科实训答辩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8A0C8"/>
                </a:solidFill>
                <a:latin typeface="Microsoft YaHei"/>
              </a:rPr>
              <a:t>PPT 中的截图、指标、测试结果均来自本项目实际运行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